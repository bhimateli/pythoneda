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9" r:id="rId4"/>
    <p:sldId id="273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856" autoAdjust="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A2342"/>
                </a:solidFill>
                <a:latin typeface="Arial"/>
              </a:rPr>
              <a:t>Global Water Consumption Trend (Index)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Water Consumption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410</c:v>
                </c:pt>
                <c:pt idx="1">
                  <c:v>415</c:v>
                </c:pt>
                <c:pt idx="2">
                  <c:v>418</c:v>
                </c:pt>
                <c:pt idx="3">
                  <c:v>421</c:v>
                </c:pt>
                <c:pt idx="4">
                  <c:v>427</c:v>
                </c:pt>
                <c:pt idx="5">
                  <c:v>430</c:v>
                </c:pt>
                <c:pt idx="6">
                  <c:v>436</c:v>
                </c:pt>
                <c:pt idx="7">
                  <c:v>438</c:v>
                </c:pt>
                <c:pt idx="8">
                  <c:v>443</c:v>
                </c:pt>
                <c:pt idx="9">
                  <c:v>448</c:v>
                </c:pt>
                <c:pt idx="10">
                  <c:v>452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3E0-4F9C-8880-05D1EAC2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2" name="chart">
          <a:extLst xmlns:a="http://schemas.openxmlformats.org/drawingml/2006/main">
            <a:ext uri="{FF2B5EF4-FFF2-40B4-BE49-F238E27FC236}">
              <a16:creationId xmlns:a16="http://schemas.microsoft.com/office/drawing/2014/main" id="{378B7638-B2EF-8CDD-2260-B23681697B15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7017111" cy="4178515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9827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57761-2DA5-F95A-929A-BEC74D9ED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894AD-1717-EFD7-4ED6-0B7750798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D629F4-4ED5-D541-348C-94AD53943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6BA59-8799-5953-A2AF-57BCA30F74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58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unicef.org/wash/water-scarcit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D5C8F">
              <a:alpha val="30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772400" y="2743200"/>
            <a:ext cx="2560320" cy="2560320"/>
          </a:xfrm>
          <a:prstGeom prst="ellipse">
            <a:avLst/>
          </a:prstGeom>
          <a:solidFill>
            <a:srgbClr val="0D9488">
              <a:alpha val="2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EDA PROJECT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Water Consumption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Understanding Water Usage Patterns &amp; Scarcity Trends Using Python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Bhimashankar Teli , Sridhar Alagandala, RAMKUMAR S , Bhargav S V, Amrithya Muralikrishnan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r>
              <a:rPr lang="en-US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05740" y="793729"/>
            <a:ext cx="4206240" cy="42748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53568" y="887730"/>
            <a:ext cx="210312" cy="42748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billion people — almost two thirds of the world’s population —  experience severe water scarcity for at least one month each year.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two billion people live in countries where water supply is inadequate.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the world’s population could be living in areas facing water scarcity by as early as 2025.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700 million people could be displaced by intense water scarcity by 2030.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2040, roughly 1 in 4 children worldwide will be living in areas of extremely high water stress.</a:t>
            </a:r>
            <a:endParaRPr lang="en-US" sz="1200" dirty="0"/>
          </a:p>
        </p:txBody>
      </p:sp>
      <p:sp>
        <p:nvSpPr>
          <p:cNvPr id="25" name="AutoShape 2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60845419-C7DB-8B6C-7EA8-9B3CDD2BF87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AutoShape 4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281A3834-5C42-27A0-C0C0-BBD515C0CA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AutoShape 6" descr="Early in the morning, children go to fetch water at the nearest water point, 15 kilometres away from their home in Tchadi village.">
            <a:extLst>
              <a:ext uri="{FF2B5EF4-FFF2-40B4-BE49-F238E27FC236}">
                <a16:creationId xmlns:a16="http://schemas.microsoft.com/office/drawing/2014/main" id="{FE8059A3-5E75-19CE-54A3-4CD60B8896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24400" y="27241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949F607-CE0F-95E2-5538-69A22E45F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20" y="868680"/>
            <a:ext cx="4587240" cy="397764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D262C4B-4402-1B79-CF67-D1BB1EEEF130}"/>
              </a:ext>
            </a:extLst>
          </p:cNvPr>
          <p:cNvSpPr txBox="1"/>
          <p:nvPr/>
        </p:nvSpPr>
        <p:spPr>
          <a:xfrm>
            <a:off x="846944" y="4572000"/>
            <a:ext cx="3230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Water scarcity | UNICEF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F2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829A3-951A-169E-DF5C-43729CDA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C4D7FBA-ECF6-E117-0B6B-B15002277BC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A56517-917E-682D-5749-3370191773A9}"/>
              </a:ext>
            </a:extLst>
          </p:cNvPr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DATASET</a:t>
            </a:r>
            <a:endParaRPr lang="en-US" sz="1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AF0FF5-E0A2-D318-1326-C3F99C470B3C}"/>
              </a:ext>
            </a:extLst>
          </p:cNvPr>
          <p:cNvSpPr/>
          <p:nvPr/>
        </p:nvSpPr>
        <p:spPr>
          <a:xfrm>
            <a:off x="320040" y="86868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0891E9C-281D-F4CB-9C5B-BB34D3BB9282}"/>
              </a:ext>
            </a:extLst>
          </p:cNvPr>
          <p:cNvSpPr/>
          <p:nvPr/>
        </p:nvSpPr>
        <p:spPr>
          <a:xfrm>
            <a:off x="320040" y="868680"/>
            <a:ext cx="164592" cy="3977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18AE8D0-1FAC-460F-751B-D7F7FEC6581A}"/>
              </a:ext>
            </a:extLst>
          </p:cNvPr>
          <p:cNvSpPr/>
          <p:nvPr/>
        </p:nvSpPr>
        <p:spPr>
          <a:xfrm>
            <a:off x="59436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65378B-2055-C108-7A9E-4CC8518759B0}"/>
              </a:ext>
            </a:extLst>
          </p:cNvPr>
          <p:cNvSpPr/>
          <p:nvPr/>
        </p:nvSpPr>
        <p:spPr>
          <a:xfrm>
            <a:off x="640080" y="1382335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EDA on a global water consumption dataset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water usage patterns across countries and years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relationships between environmental factors and water scarcity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insights supporting sustainable water management</a:t>
            </a:r>
            <a:endParaRPr lang="en-US" sz="1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57F8D7C-8E01-1D63-19E2-441CA2227D98}"/>
              </a:ext>
            </a:extLst>
          </p:cNvPr>
          <p:cNvSpPr/>
          <p:nvPr/>
        </p:nvSpPr>
        <p:spPr>
          <a:xfrm>
            <a:off x="4709160" y="868680"/>
            <a:ext cx="4114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3FA904-2D25-D5E1-452B-AC36B57DF2B4}"/>
              </a:ext>
            </a:extLst>
          </p:cNvPr>
          <p:cNvSpPr/>
          <p:nvPr/>
        </p:nvSpPr>
        <p:spPr>
          <a:xfrm>
            <a:off x="4709160" y="868680"/>
            <a:ext cx="164592" cy="397764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460B2EE-3102-2988-3784-D0DC2834C808}"/>
              </a:ext>
            </a:extLst>
          </p:cNvPr>
          <p:cNvSpPr/>
          <p:nvPr/>
        </p:nvSpPr>
        <p:spPr>
          <a:xfrm>
            <a:off x="4983480" y="10058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Source</a:t>
            </a:r>
            <a:endParaRPr lang="en-US" sz="16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3E6B549-D197-ABE9-33D0-68C3F82CDED3}"/>
              </a:ext>
            </a:extLst>
          </p:cNvPr>
          <p:cNvSpPr/>
          <p:nvPr/>
        </p:nvSpPr>
        <p:spPr>
          <a:xfrm>
            <a:off x="498348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816013D-7017-1BAE-B802-4B50B904D2ED}"/>
              </a:ext>
            </a:extLst>
          </p:cNvPr>
          <p:cNvSpPr/>
          <p:nvPr/>
        </p:nvSpPr>
        <p:spPr>
          <a:xfrm>
            <a:off x="498348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8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EBE6FB-2D16-F546-3761-6DDE1934D6D2}"/>
              </a:ext>
            </a:extLst>
          </p:cNvPr>
          <p:cNvSpPr/>
          <p:nvPr/>
        </p:nvSpPr>
        <p:spPr>
          <a:xfrm>
            <a:off x="498348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1AF2040-4218-3BD2-1C55-FD3CB64CD58E}"/>
              </a:ext>
            </a:extLst>
          </p:cNvPr>
          <p:cNvSpPr/>
          <p:nvPr/>
        </p:nvSpPr>
        <p:spPr>
          <a:xfrm>
            <a:off x="6858000" y="150876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75530E-36ED-1DF7-17B3-797B8FDBA04C}"/>
              </a:ext>
            </a:extLst>
          </p:cNvPr>
          <p:cNvSpPr/>
          <p:nvPr/>
        </p:nvSpPr>
        <p:spPr>
          <a:xfrm>
            <a:off x="6858000" y="16733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1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55292CC-4DF0-7BD4-748B-F5877B01311D}"/>
              </a:ext>
            </a:extLst>
          </p:cNvPr>
          <p:cNvSpPr/>
          <p:nvPr/>
        </p:nvSpPr>
        <p:spPr>
          <a:xfrm>
            <a:off x="6858000" y="2167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187B36D-3F33-086D-1DCF-41F7E556984C}"/>
              </a:ext>
            </a:extLst>
          </p:cNvPr>
          <p:cNvSpPr/>
          <p:nvPr/>
        </p:nvSpPr>
        <p:spPr>
          <a:xfrm>
            <a:off x="498348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D43EFD4-B415-54EA-9767-F931B71AF333}"/>
              </a:ext>
            </a:extLst>
          </p:cNvPr>
          <p:cNvSpPr/>
          <p:nvPr/>
        </p:nvSpPr>
        <p:spPr>
          <a:xfrm>
            <a:off x="498348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Multi-var</a:t>
            </a:r>
            <a:endParaRPr lang="en-US" sz="1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FB2EF6D-3408-AD76-4B74-F48EF9CFA8C8}"/>
              </a:ext>
            </a:extLst>
          </p:cNvPr>
          <p:cNvSpPr/>
          <p:nvPr/>
        </p:nvSpPr>
        <p:spPr>
          <a:xfrm>
            <a:off x="498348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178BB05-29D6-ECCB-A4D8-7B0454A9100E}"/>
              </a:ext>
            </a:extLst>
          </p:cNvPr>
          <p:cNvSpPr/>
          <p:nvPr/>
        </p:nvSpPr>
        <p:spPr>
          <a:xfrm>
            <a:off x="6858000" y="2926080"/>
            <a:ext cx="1737360" cy="118872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F6CC5A6-D44C-9C89-72BE-F342AB464A76}"/>
              </a:ext>
            </a:extLst>
          </p:cNvPr>
          <p:cNvSpPr/>
          <p:nvPr/>
        </p:nvSpPr>
        <p:spPr>
          <a:xfrm>
            <a:off x="6858000" y="3090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47B4CA7-C252-935F-EFB6-D1EEBF099C0B}"/>
              </a:ext>
            </a:extLst>
          </p:cNvPr>
          <p:cNvSpPr/>
          <p:nvPr/>
        </p:nvSpPr>
        <p:spPr>
          <a:xfrm>
            <a:off x="6858000" y="3584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E1CF3F4-CAFA-F24B-A7CF-B2FDC42622DD}"/>
              </a:ext>
            </a:extLst>
          </p:cNvPr>
          <p:cNvSpPr/>
          <p:nvPr/>
        </p:nvSpPr>
        <p:spPr>
          <a:xfrm>
            <a:off x="4983480" y="4297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environmental and consumption features captured across countries and years.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65931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 ·  COLUMN DESCRIPTIONS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28016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8503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32688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Name of the country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474720" y="850392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8503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77240"/>
            <a:ext cx="128016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1808" y="8503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21808" y="1161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 of data collection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863840" y="850392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891B2">
              <a:alpha val="18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850392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4320" y="1627632"/>
            <a:ext cx="12801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17007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Water Consumption (Bn m³)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 volume of water consumed in the country in a given year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474720" y="1700784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70078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162763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627632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21808" y="1700784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Capita Water Use (L/Day)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21808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Average water usage per person per day in liters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863840" y="1700784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170078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74320" y="24780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478024"/>
            <a:ext cx="128016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255117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Scarcity Level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3268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Level of scarcity — Low, Moderate, or High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74720" y="2551176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25511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63440" y="2478024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478024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21808" y="2551176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Water Use (%)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321808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agriculture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7863840" y="2551176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63840" y="255117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4320" y="33284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74320" y="3328416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" y="34015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Water Use (%)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32688" y="3712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industry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3474720" y="3401568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0" y="34015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663440" y="3328416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328416"/>
            <a:ext cx="128016" cy="804672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21808" y="3401568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Water Use (%)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321808" y="3712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% of total water consumption used for households</a:t>
            </a:r>
            <a:endParaRPr lang="en-US" sz="880" dirty="0"/>
          </a:p>
        </p:txBody>
      </p:sp>
      <p:sp>
        <p:nvSpPr>
          <p:cNvPr id="58" name="Shape 56"/>
          <p:cNvSpPr/>
          <p:nvPr/>
        </p:nvSpPr>
        <p:spPr>
          <a:xfrm>
            <a:off x="7863840" y="3401568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0D5C8F">
              <a:alpha val="18000"/>
            </a:srgbClr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863840" y="340156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74320" y="417880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274320" y="4178808"/>
            <a:ext cx="128016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548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32688" y="425196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Impact (mm/year)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32688" y="4562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Annual precipitation and its impact on water availability</a:t>
            </a:r>
            <a:endParaRPr lang="en-US" sz="880" dirty="0"/>
          </a:p>
        </p:txBody>
      </p:sp>
      <p:sp>
        <p:nvSpPr>
          <p:cNvPr id="65" name="Shape 63"/>
          <p:cNvSpPr/>
          <p:nvPr/>
        </p:nvSpPr>
        <p:spPr>
          <a:xfrm>
            <a:off x="3474720" y="4251960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0" y="4251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4178808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63440" y="4178808"/>
            <a:ext cx="128016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64608" y="4334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5321808" y="425196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Depletion Rate (%)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321808" y="4562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rate at which groundwater is being depleted</a:t>
            </a:r>
            <a:endParaRPr lang="en-US" sz="880" dirty="0"/>
          </a:p>
        </p:txBody>
      </p:sp>
      <p:sp>
        <p:nvSpPr>
          <p:cNvPr id="72" name="Shape 70"/>
          <p:cNvSpPr/>
          <p:nvPr/>
        </p:nvSpPr>
        <p:spPr>
          <a:xfrm>
            <a:off x="7863840" y="4251960"/>
            <a:ext cx="841248" cy="219456"/>
          </a:xfrm>
          <a:prstGeom prst="roundRect">
            <a:avLst>
              <a:gd name="adj" fmla="val 20833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42519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74320" y="4818888"/>
            <a:ext cx="85953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371600" y="4892040"/>
            <a:ext cx="164592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5910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200400" y="4892040"/>
            <a:ext cx="164592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198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29200" y="4892040"/>
            <a:ext cx="164592" cy="109728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486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Feature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6858000" y="4892040"/>
            <a:ext cx="164592" cy="1097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77456" y="48554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47472" y="48554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84632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84632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dataset using Pandas library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29000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4290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41648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Examined structure with df.info() and df.describe()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8686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373368" y="10332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373368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86016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73368" y="16184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absence of missing values and checked duplicates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4632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4632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and standardised numerical data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29260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429000" y="309067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29000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41648" y="31089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36758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 clean dataset for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97480" cy="1783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17920" y="3063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4747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NumPy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 ·  Seaborn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– Variable Distribution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 – Outlier Detection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Histograms revealed moderate variation across countries · Box plots flagged extreme outliers in certain regions · Some countries exhibit unusually high water consumption levels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RELATIONSHIPS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7472" y="1188720"/>
            <a:ext cx="4069080" cy="2423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86868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00600" y="8961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Analysis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6592" y="1188720"/>
            <a:ext cx="4069080" cy="24231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3840480"/>
            <a:ext cx="85039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320040" y="3840480"/>
            <a:ext cx="16459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59436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Findings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94360" y="418795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 positive correlation between Total Water Consumption &amp; Agricultural Water Use · Higher groundwater depletion linked with water scarcity · Lower rainfall regions depend more on groundwater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53035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553780597"/>
              </p:ext>
            </p:extLst>
          </p:nvPr>
        </p:nvGraphicFramePr>
        <p:xfrm>
          <a:off x="365760" y="91440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8686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806440" y="8686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080760" y="9784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Increase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3258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consumption shows steady yearly growth in several countries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06440" y="22402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806440" y="22402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080760" y="23500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Growth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Rising population drives increased demand for water resources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806440" y="3611880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806440" y="3611880"/>
            <a:ext cx="16459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080760" y="372160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Expansion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40690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Industrial activity significantly contributes to rising consumption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06440" y="4480560"/>
            <a:ext cx="3017520" cy="5486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OBSERVATIONS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Dominates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Agriculture is the single largest contributor to total water consumption globally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27448" y="868680"/>
            <a:ext cx="4160520" cy="182880"/>
          </a:xfrm>
          <a:prstGeom prst="rect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143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5C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550408" y="11612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Scarcity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7335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Water scarcity is driven by multiple environmental factors acting together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20040" y="2971800"/>
            <a:ext cx="4160520" cy="182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43000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Stress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Groundwater depletion is a critical sustainability concern for future water security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27448" y="2971800"/>
            <a:ext cx="4160520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2461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550408" y="3264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Variation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776472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Significant differences in consumption and scarcity exist across regions worldwide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0F2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future water consumption using regression and time-series ML models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27448" y="86868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910328" y="1051560"/>
            <a:ext cx="566928" cy="566928"/>
          </a:xfrm>
          <a:prstGeom prst="ellipse">
            <a:avLst/>
          </a:prstGeom>
          <a:solidFill>
            <a:srgbClr val="0D5C8F"/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10328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14416" y="108813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70992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countries at risk of severe water scarcity using classification models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66928" cy="5669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07008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Clustering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 countries based on usage patterns using K-Means or DBSCAN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27448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9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10328" y="3154680"/>
            <a:ext cx="566928" cy="5669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10328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14416" y="3191256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Trends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38130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long-term sustainability trends and policy impact on water usage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5C8F">
              <a:alpha val="28000"/>
            </a:srgbClr>
          </a:solidFill>
          <a:ln w="12700">
            <a:solidFill>
              <a:srgbClr val="0D5C8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474720" cy="34747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Exploratory Data Analysis revealed meaningful patterns in global water consumption. Agricultural usage and groundwater depletion emerged as the primary contributors to water stress and scarcity.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Built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EDA establishes a strong analytical base for further modelling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38328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Potential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Patterns support development of accurate forecasting models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72200" y="2743200"/>
            <a:ext cx="2743200" cy="1645920"/>
          </a:xfrm>
          <a:prstGeom prst="rect">
            <a:avLst/>
          </a:prstGeom>
          <a:solidFill>
            <a:srgbClr val="0D5C8F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09360" y="28529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Planning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Insights can guide evidence-based resource management</a:t>
            </a:r>
            <a:endParaRPr lang="en-US" sz="10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54DED9-5883-C62A-8E95-F7E348A5423F}"/>
              </a:ext>
            </a:extLst>
          </p:cNvPr>
          <p:cNvSpPr txBox="1"/>
          <p:nvPr/>
        </p:nvSpPr>
        <p:spPr>
          <a:xfrm>
            <a:off x="1243791" y="4597819"/>
            <a:ext cx="7108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Groundwater May Be Hidden, But the Secret to Its Sustainability Is Not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3932</TotalTime>
  <Words>704</Words>
  <Application>Microsoft Office PowerPoint</Application>
  <PresentationFormat>On-screen Show (16:9)</PresentationFormat>
  <Paragraphs>149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of Global Water Consumption</dc:title>
  <dc:subject>PptxGenJS Presentation</dc:subject>
  <dc:creator>Bhimashankar Teli &amp; Group 2</dc:creator>
  <cp:lastModifiedBy>Bhimashankar Teli Teli</cp:lastModifiedBy>
  <cp:revision>10</cp:revision>
  <dcterms:created xsi:type="dcterms:W3CDTF">2026-03-06T13:20:39Z</dcterms:created>
  <dcterms:modified xsi:type="dcterms:W3CDTF">2026-03-12T17:02:19Z</dcterms:modified>
</cp:coreProperties>
</file>