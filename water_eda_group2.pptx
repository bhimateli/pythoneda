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drawings/drawing2.xml" ContentType="application/vnd.openxmlformats-officedocument.drawingml.chartshape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2" r:id="rId4"/>
    <p:sldId id="269" r:id="rId5"/>
    <p:sldId id="258" r:id="rId6"/>
    <p:sldId id="259" r:id="rId7"/>
    <p:sldId id="260" r:id="rId8"/>
    <p:sldId id="261" r:id="rId9"/>
    <p:sldId id="262" r:id="rId10"/>
    <p:sldId id="271" r:id="rId11"/>
    <p:sldId id="266" r:id="rId12"/>
    <p:sldId id="263" r:id="rId13"/>
    <p:sldId id="264" r:id="rId14"/>
    <p:sldId id="265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5BDC4-2971-4E36-BF03-5567F460A137}" v="34" dt="2026-03-07T09:27:03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3856" autoAdjust="0"/>
  </p:normalViewPr>
  <p:slideViewPr>
    <p:cSldViewPr snapToGrid="0" snapToObjects="1">
      <p:cViewPr varScale="1">
        <p:scale>
          <a:sx n="102" d="100"/>
          <a:sy n="102" d="100"/>
        </p:scale>
        <p:origin x="8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2.xml"/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2342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A2342"/>
                </a:solidFill>
                <a:latin typeface="Arial"/>
              </a:rPr>
              <a:t>Global Water Consumption Trend (Index)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Water Consumption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410</c:v>
                </c:pt>
                <c:pt idx="1">
                  <c:v>415</c:v>
                </c:pt>
                <c:pt idx="2">
                  <c:v>418</c:v>
                </c:pt>
                <c:pt idx="3">
                  <c:v>421</c:v>
                </c:pt>
                <c:pt idx="4">
                  <c:v>427</c:v>
                </c:pt>
                <c:pt idx="5">
                  <c:v>430</c:v>
                </c:pt>
                <c:pt idx="6">
                  <c:v>436</c:v>
                </c:pt>
                <c:pt idx="7">
                  <c:v>438</c:v>
                </c:pt>
                <c:pt idx="8">
                  <c:v>443</c:v>
                </c:pt>
                <c:pt idx="9">
                  <c:v>448</c:v>
                </c:pt>
                <c:pt idx="10">
                  <c:v>452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3E0-4F9C-8880-05D1EAC20C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2342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A2342"/>
                </a:solidFill>
                <a:latin typeface="Arial"/>
              </a:rPr>
              <a:t>Global Water Consumption Trend (Index)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Water Consumption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410</c:v>
                </c:pt>
                <c:pt idx="1">
                  <c:v>415</c:v>
                </c:pt>
                <c:pt idx="2">
                  <c:v>418</c:v>
                </c:pt>
                <c:pt idx="3">
                  <c:v>421</c:v>
                </c:pt>
                <c:pt idx="4">
                  <c:v>427</c:v>
                </c:pt>
                <c:pt idx="5">
                  <c:v>430</c:v>
                </c:pt>
                <c:pt idx="6">
                  <c:v>436</c:v>
                </c:pt>
                <c:pt idx="7">
                  <c:v>438</c:v>
                </c:pt>
                <c:pt idx="8">
                  <c:v>443</c:v>
                </c:pt>
                <c:pt idx="9">
                  <c:v>448</c:v>
                </c:pt>
                <c:pt idx="10">
                  <c:v>452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3E0-4F9C-8880-05D1EAC20C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drawing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2" name="chart">
          <a:extLst xmlns:a="http://schemas.openxmlformats.org/drawingml/2006/main">
            <a:ext uri="{FF2B5EF4-FFF2-40B4-BE49-F238E27FC236}">
              <a16:creationId xmlns:a16="http://schemas.microsoft.com/office/drawing/2014/main" id="{378B7638-B2EF-8CDD-2260-B23681697B1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7017111" cy="4178515"/>
        </a:xfrm>
        <a:prstGeom xmlns:a="http://schemas.openxmlformats.org/drawingml/2006/main" prst="rect">
          <a:avLst/>
        </a:prstGeom>
      </cdr:spPr>
    </cdr:pic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2" name="chart">
          <a:extLst xmlns:a="http://schemas.openxmlformats.org/drawingml/2006/main">
            <a:ext uri="{FF2B5EF4-FFF2-40B4-BE49-F238E27FC236}">
              <a16:creationId xmlns:a16="http://schemas.microsoft.com/office/drawing/2014/main" id="{378B7638-B2EF-8CDD-2260-B23681697B1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-365760" y="-914400"/>
          <a:ext cx="5212080" cy="4114800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9827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51203-4160-7754-A3E3-4D353E8DB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46ADE-3C76-CB64-25E5-7BCA916DA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0AD92-D95B-CF2F-F002-7CDF154A3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A241-DC74-9F0B-5BB5-7B6DB54425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935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7761-2DA5-F95A-929A-BEC74D9E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894AD-1717-EFD7-4ED6-0B7750798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629F4-4ED5-D541-348C-94AD53943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6BA59-8799-5953-A2AF-57BCA30F7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58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C3B95-4409-99C8-84C2-5A8270AC7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03D6F-DC87-B398-E3D8-D1D78D894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B9065-6FA0-3F60-1AE9-396E572B8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6B5EF-41A9-1984-A123-6CE8C092AD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3644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71AB8-6899-43DE-1865-E1AC4577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FE5475-ACB7-B87B-31E2-6AF57CD118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B5F66-3AED-70F1-BE2B-49C3C5E00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DCB94-E8EB-6548-F8A9-7CADA8FF1D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940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10F2-1C6E-28AA-8809-8A5AF348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0C2C9-E4A5-6B2C-53B0-8787FBA45A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4B2FE7-86D8-DE9B-511B-6ABC10C50F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B33C9-F542-458F-5497-CA182A8EA4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808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nicef.org/wash/water-scarcity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rsc.org/attach_image/global-water-consumption-1900-2025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4114800" cy="4114800"/>
          </a:xfrm>
          <a:prstGeom prst="ellipse">
            <a:avLst/>
          </a:prstGeom>
          <a:solidFill>
            <a:srgbClr val="0D5C8F">
              <a:alpha val="30000"/>
            </a:srgbClr>
          </a:solidFill>
          <a:ln w="12700">
            <a:solidFill>
              <a:srgbClr val="0D5C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772400" y="2743200"/>
            <a:ext cx="2560320" cy="2560320"/>
          </a:xfrm>
          <a:prstGeom prst="ellipse">
            <a:avLst/>
          </a:prstGeom>
          <a:solidFill>
            <a:srgbClr val="0D9488">
              <a:alpha val="22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EDA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3200" dirty="0"/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Global Water Consumption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Understanding Water Usage Patterns &amp; Scarcity Trends Using Python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Bhimashankar Teli , Sridhar Alagandala, RAMKUMAR S , Bhargav S V, Amrithya Muralikrishnan 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r>
              <a:rPr lang="en-US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5740" y="793729"/>
            <a:ext cx="4206240" cy="42748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353568" y="887730"/>
            <a:ext cx="210312" cy="42748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billion people — almost two thirds of the world’s population —  experience severe water scarcity for at least one month each year.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two billion people live in countries where water supply is inadequate.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the world’s population could be living in areas facing water scarcity by as early as 2025.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700 million people could be displaced by intense water scarcity by 2030.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2040, roughly 1 in 4 children worldwide will be living in areas of extremely high water stress.</a:t>
            </a:r>
            <a:endParaRPr lang="en-US" sz="1200" dirty="0"/>
          </a:p>
        </p:txBody>
      </p:sp>
      <p:sp>
        <p:nvSpPr>
          <p:cNvPr id="25" name="AutoShape 2" descr="Early in the morning, children go to fetch water at the nearest water point, 15 kilometres away from their home in Tchadi village.">
            <a:extLst>
              <a:ext uri="{FF2B5EF4-FFF2-40B4-BE49-F238E27FC236}">
                <a16:creationId xmlns:a16="http://schemas.microsoft.com/office/drawing/2014/main" id="{60845419-C7DB-8B6C-7EA8-9B3CDD2BF8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" name="AutoShape 4" descr="Early in the morning, children go to fetch water at the nearest water point, 15 kilometres away from their home in Tchadi village.">
            <a:extLst>
              <a:ext uri="{FF2B5EF4-FFF2-40B4-BE49-F238E27FC236}">
                <a16:creationId xmlns:a16="http://schemas.microsoft.com/office/drawing/2014/main" id="{281A3834-5C42-27A0-C0C0-BBD515C0CA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" name="AutoShape 6" descr="Early in the morning, children go to fetch water at the nearest water point, 15 kilometres away from their home in Tchadi village.">
            <a:extLst>
              <a:ext uri="{FF2B5EF4-FFF2-40B4-BE49-F238E27FC236}">
                <a16:creationId xmlns:a16="http://schemas.microsoft.com/office/drawing/2014/main" id="{FE8059A3-5E75-19CE-54A3-4CD60B88963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27241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949F607-CE0F-95E2-5538-69A22E45F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320" y="868680"/>
            <a:ext cx="4587240" cy="39776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D262C4B-4402-1B79-CF67-D1BB1EEEF130}"/>
              </a:ext>
            </a:extLst>
          </p:cNvPr>
          <p:cNvSpPr txBox="1"/>
          <p:nvPr/>
        </p:nvSpPr>
        <p:spPr>
          <a:xfrm>
            <a:off x="846944" y="4572000"/>
            <a:ext cx="323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hlinkClick r:id="rId4"/>
              </a:rPr>
              <a:t>Water scarcity | UNICEF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AE73F-4849-44E3-4E40-4ED2966B4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123662-7747-02DB-92BF-4EA47CCF432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E3E850-27C3-F433-CB4A-9BBFA2EE3044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Globol Water Consumption Dataset Columns</a:t>
            </a:r>
            <a:endParaRPr lang="en-US" sz="1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DF3803-479A-71EA-1CD0-3793673FF1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4872" y="798225"/>
            <a:ext cx="8940497" cy="427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500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829A3-951A-169E-DF5C-43729CDAA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4D7FBA-ECF6-E117-0B6B-B15002277BCA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A56517-917E-682D-5749-3370191773A9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DATASET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CAF0FF5-E0A2-D318-1326-C3F99C470B3C}"/>
              </a:ext>
            </a:extLst>
          </p:cNvPr>
          <p:cNvSpPr/>
          <p:nvPr/>
        </p:nvSpPr>
        <p:spPr>
          <a:xfrm>
            <a:off x="320040" y="868680"/>
            <a:ext cx="42062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0891E9C-281D-F4CB-9C5B-BB34D3BB9282}"/>
              </a:ext>
            </a:extLst>
          </p:cNvPr>
          <p:cNvSpPr/>
          <p:nvPr/>
        </p:nvSpPr>
        <p:spPr>
          <a:xfrm>
            <a:off x="320040" y="868680"/>
            <a:ext cx="164592" cy="3977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18AE8D0-1FAC-460F-751B-D7F7FEC6581A}"/>
              </a:ext>
            </a:extLst>
          </p:cNvPr>
          <p:cNvSpPr/>
          <p:nvPr/>
        </p:nvSpPr>
        <p:spPr>
          <a:xfrm>
            <a:off x="59436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65378B-2055-C108-7A9E-4CC8518759B0}"/>
              </a:ext>
            </a:extLst>
          </p:cNvPr>
          <p:cNvSpPr/>
          <p:nvPr/>
        </p:nvSpPr>
        <p:spPr>
          <a:xfrm>
            <a:off x="640080" y="146304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EDA on a global water consumption dataset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water usage patterns across countries and years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relationships between environmental factors and water scarcity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insights supporting sustainable water management</a:t>
            </a:r>
            <a:endParaRPr lang="en-US" sz="12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57F8D7C-8E01-1D63-19E2-441CA2227D98}"/>
              </a:ext>
            </a:extLst>
          </p:cNvPr>
          <p:cNvSpPr/>
          <p:nvPr/>
        </p:nvSpPr>
        <p:spPr>
          <a:xfrm>
            <a:off x="4709160" y="86868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93FA904-2D25-D5E1-452B-AC36B57DF2B4}"/>
              </a:ext>
            </a:extLst>
          </p:cNvPr>
          <p:cNvSpPr/>
          <p:nvPr/>
        </p:nvSpPr>
        <p:spPr>
          <a:xfrm>
            <a:off x="4709160" y="868680"/>
            <a:ext cx="164592" cy="3977640"/>
          </a:xfrm>
          <a:prstGeom prst="rect">
            <a:avLst/>
          </a:prstGeom>
          <a:solidFill>
            <a:srgbClr val="0D5C8F"/>
          </a:solidFill>
          <a:ln w="12700">
            <a:solidFill>
              <a:srgbClr val="0D5C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460B2EE-3102-2988-3784-D0DC2834C808}"/>
              </a:ext>
            </a:extLst>
          </p:cNvPr>
          <p:cNvSpPr/>
          <p:nvPr/>
        </p:nvSpPr>
        <p:spPr>
          <a:xfrm>
            <a:off x="498348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Source</a:t>
            </a:r>
            <a:endParaRPr lang="en-US" sz="16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3E6B549-D197-ABE9-33D0-68C3F82CDED3}"/>
              </a:ext>
            </a:extLst>
          </p:cNvPr>
          <p:cNvSpPr/>
          <p:nvPr/>
        </p:nvSpPr>
        <p:spPr>
          <a:xfrm>
            <a:off x="4983480" y="1508760"/>
            <a:ext cx="1737360" cy="1188720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816013D-7017-1BAE-B802-4B50B904D2ED}"/>
              </a:ext>
            </a:extLst>
          </p:cNvPr>
          <p:cNvSpPr/>
          <p:nvPr/>
        </p:nvSpPr>
        <p:spPr>
          <a:xfrm>
            <a:off x="4983480" y="16733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</a:t>
            </a:r>
            <a:endParaRPr lang="en-US" sz="1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1EBE6FB-2D16-F546-3761-6DDE1934D6D2}"/>
              </a:ext>
            </a:extLst>
          </p:cNvPr>
          <p:cNvSpPr/>
          <p:nvPr/>
        </p:nvSpPr>
        <p:spPr>
          <a:xfrm>
            <a:off x="4983480" y="21671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1AF2040-4218-3BD2-1C55-FD3CB64CD58E}"/>
              </a:ext>
            </a:extLst>
          </p:cNvPr>
          <p:cNvSpPr/>
          <p:nvPr/>
        </p:nvSpPr>
        <p:spPr>
          <a:xfrm>
            <a:off x="6858000" y="1508760"/>
            <a:ext cx="1737360" cy="1188720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075530E-36ED-1DF7-17B3-797B8FDBA04C}"/>
              </a:ext>
            </a:extLst>
          </p:cNvPr>
          <p:cNvSpPr/>
          <p:nvPr/>
        </p:nvSpPr>
        <p:spPr>
          <a:xfrm>
            <a:off x="6858000" y="16733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18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55292CC-4DF0-7BD4-748B-F5877B01311D}"/>
              </a:ext>
            </a:extLst>
          </p:cNvPr>
          <p:cNvSpPr/>
          <p:nvPr/>
        </p:nvSpPr>
        <p:spPr>
          <a:xfrm>
            <a:off x="6858000" y="21671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187B36D-3F33-086D-1DCF-41F7E556984C}"/>
              </a:ext>
            </a:extLst>
          </p:cNvPr>
          <p:cNvSpPr/>
          <p:nvPr/>
        </p:nvSpPr>
        <p:spPr>
          <a:xfrm>
            <a:off x="4983480" y="2926080"/>
            <a:ext cx="1737360" cy="1188720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D43EFD4-B415-54EA-9767-F931B71AF333}"/>
              </a:ext>
            </a:extLst>
          </p:cNvPr>
          <p:cNvSpPr/>
          <p:nvPr/>
        </p:nvSpPr>
        <p:spPr>
          <a:xfrm>
            <a:off x="498348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Multi-var</a:t>
            </a:r>
            <a:endParaRPr lang="en-US" sz="18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FB2EF6D-3408-AD76-4B74-F48EF9CFA8C8}"/>
              </a:ext>
            </a:extLst>
          </p:cNvPr>
          <p:cNvSpPr/>
          <p:nvPr/>
        </p:nvSpPr>
        <p:spPr>
          <a:xfrm>
            <a:off x="4983480" y="35844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178BB05-29D6-ECCB-A4D8-7B0454A9100E}"/>
              </a:ext>
            </a:extLst>
          </p:cNvPr>
          <p:cNvSpPr/>
          <p:nvPr/>
        </p:nvSpPr>
        <p:spPr>
          <a:xfrm>
            <a:off x="6858000" y="2926080"/>
            <a:ext cx="1737360" cy="1188720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F6CC5A6-D44C-9C89-72BE-F342AB464A76}"/>
              </a:ext>
            </a:extLst>
          </p:cNvPr>
          <p:cNvSpPr/>
          <p:nvPr/>
        </p:nvSpPr>
        <p:spPr>
          <a:xfrm>
            <a:off x="685800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47B4CA7-C252-935F-EFB6-D1EEBF099C0B}"/>
              </a:ext>
            </a:extLst>
          </p:cNvPr>
          <p:cNvSpPr/>
          <p:nvPr/>
        </p:nvSpPr>
        <p:spPr>
          <a:xfrm>
            <a:off x="6858000" y="35844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E1CF3F4-CAFA-F24B-A7CF-B2FDC42622DD}"/>
              </a:ext>
            </a:extLst>
          </p:cNvPr>
          <p:cNvSpPr/>
          <p:nvPr/>
        </p:nvSpPr>
        <p:spPr>
          <a:xfrm>
            <a:off x="4983480" y="4297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environmental and consumption features captured across countries and years.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59316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5661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73152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1680" y="14630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73152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11680" y="21031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73152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01168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Coverage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83280"/>
            <a:ext cx="73152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Scope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40740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Water Consumption · Agricultural &amp; Industrial Use · Household Water Use · Rainfall Levels · Groundwater Depletion Rate · Water Scarcity Level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23360" y="868680"/>
            <a:ext cx="48006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60520" y="9144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Preview</a:t>
            </a:r>
            <a:endParaRPr lang="en-US" sz="12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96512" y="1280160"/>
            <a:ext cx="466344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PREPARATION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84632" y="103327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84632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051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16184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dataset using Pandas library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4408" y="868680"/>
            <a:ext cx="2697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29000" y="103327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429000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41648" y="1051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16184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 structure with df.info() and df.describe()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868680"/>
            <a:ext cx="2697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373368" y="103327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73368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86016" y="1051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73368" y="16184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absence of missing values and checked duplicates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926080"/>
            <a:ext cx="2697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84632" y="309067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4632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31089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4632" y="36758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and standardised numerical data types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64408" y="2926080"/>
            <a:ext cx="2697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29000" y="309067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29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041648" y="31089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29000" y="36758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clean dataset for analysis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2926080"/>
            <a:ext cx="2697480" cy="178308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21792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7920" y="34747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Pandas  ·  NumPy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 ·  Seaborn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ANALYSIS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114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896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– Variable Distribution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7472" y="1188720"/>
            <a:ext cx="4069080" cy="2423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868680"/>
            <a:ext cx="4114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800600" y="896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 – Outlier Detection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6592" y="1188720"/>
            <a:ext cx="4069080" cy="2423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0040" y="3840480"/>
            <a:ext cx="8503920" cy="10058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7"/>
          <p:cNvSpPr/>
          <p:nvPr/>
        </p:nvSpPr>
        <p:spPr>
          <a:xfrm>
            <a:off x="320040" y="3840480"/>
            <a:ext cx="164592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8"/>
          <p:cNvSpPr/>
          <p:nvPr/>
        </p:nvSpPr>
        <p:spPr>
          <a:xfrm>
            <a:off x="59436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94360" y="41879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Histograms revealed moderate variation across countries · Box plots flagged extreme outliers in certain regions · Some countries exhibit unusually high water consumption levels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RELATIONSHIPS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114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896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Heatmap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7472" y="1188720"/>
            <a:ext cx="4069080" cy="2423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868680"/>
            <a:ext cx="4114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800600" y="896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Analysis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6592" y="1188720"/>
            <a:ext cx="4069080" cy="2423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0040" y="3840480"/>
            <a:ext cx="8503920" cy="10058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7"/>
          <p:cNvSpPr/>
          <p:nvPr/>
        </p:nvSpPr>
        <p:spPr>
          <a:xfrm>
            <a:off x="320040" y="3840480"/>
            <a:ext cx="164592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8"/>
          <p:cNvSpPr/>
          <p:nvPr/>
        </p:nvSpPr>
        <p:spPr>
          <a:xfrm>
            <a:off x="59436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Findings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94360" y="41879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Strong positive correlation between Total Water Consumption &amp; Agricultural Water Use · Higher groundwater depletion linked with water scarcity · Lower rainfall regions depend more on groundwater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5303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553780597"/>
              </p:ext>
            </p:extLst>
          </p:nvPr>
        </p:nvGraphicFramePr>
        <p:xfrm>
          <a:off x="365760" y="914400"/>
          <a:ext cx="52120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868680"/>
            <a:ext cx="3017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5806440" y="868680"/>
            <a:ext cx="164592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080760" y="9784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Increase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080760" y="13258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Water consumption shows steady yearly growth in several countries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06440" y="2240280"/>
            <a:ext cx="3017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5806440" y="2240280"/>
            <a:ext cx="164592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6080760" y="23500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Growth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8076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Rising population drives increased demand for water resources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806440" y="3611880"/>
            <a:ext cx="3017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5806440" y="3611880"/>
            <a:ext cx="164592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6080760" y="3721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Expansion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080760" y="4069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Industrial activity significantly contributes to rising consumption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806440" y="4480560"/>
            <a:ext cx="3017520" cy="548640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3A96F3-AE9E-0C39-6BA1-984A519F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F1661C-44CD-FE26-1907-1484B168DE4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192D58-4766-1FAB-4AF3-CC4CC19AD6DD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10F79B2-B5C2-B851-76B1-4130B0C312DA}"/>
              </a:ext>
            </a:extLst>
          </p:cNvPr>
          <p:cNvSpPr/>
          <p:nvPr/>
        </p:nvSpPr>
        <p:spPr>
          <a:xfrm>
            <a:off x="320040" y="868680"/>
            <a:ext cx="5303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CA76E09F-078F-3C38-DE7C-D84C9EB770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0678249"/>
              </p:ext>
            </p:extLst>
          </p:nvPr>
        </p:nvGraphicFramePr>
        <p:xfrm>
          <a:off x="365760" y="914400"/>
          <a:ext cx="52120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>
            <a:extLst>
              <a:ext uri="{FF2B5EF4-FFF2-40B4-BE49-F238E27FC236}">
                <a16:creationId xmlns:a16="http://schemas.microsoft.com/office/drawing/2014/main" id="{4AF3F001-84CE-7512-CD9C-7AF12B609086}"/>
              </a:ext>
            </a:extLst>
          </p:cNvPr>
          <p:cNvSpPr/>
          <p:nvPr/>
        </p:nvSpPr>
        <p:spPr>
          <a:xfrm>
            <a:off x="5806440" y="4480560"/>
            <a:ext cx="3017520" cy="548640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F742AB-C292-2B9D-B80A-7288ECDDD396}"/>
              </a:ext>
            </a:extLst>
          </p:cNvPr>
          <p:cNvSpPr txBox="1"/>
          <p:nvPr/>
        </p:nvSpPr>
        <p:spPr>
          <a:xfrm>
            <a:off x="5806440" y="1079292"/>
            <a:ext cx="2971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While the world’s population tripled in the 20th century, the use of renewable water resources has grown six-fold. Within the next fifty years, the world population will increase by another 40 to 50 %. This population growth – coupled with industrialization and urbanization – will result in an increasing demand for water and will have serious consequences on the environment.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2540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03D677-EB6C-6F90-289A-7B51FC74D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AF1A1E-5750-5592-B8D8-33AD6AEC075A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096D2BC-0F2C-8666-2931-A34F6FF8A486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Globol Water Consumption</a:t>
            </a:r>
            <a:endParaRPr lang="en-US" sz="1300" dirty="0"/>
          </a:p>
        </p:txBody>
      </p:sp>
      <p:pic>
        <p:nvPicPr>
          <p:cNvPr id="24" name="Picture 2">
            <a:extLst>
              <a:ext uri="{FF2B5EF4-FFF2-40B4-BE49-F238E27FC236}">
                <a16:creationId xmlns:a16="http://schemas.microsoft.com/office/drawing/2014/main" id="{A93A261A-89D1-E39A-0B0F-29A810563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155" y="945629"/>
            <a:ext cx="4601232" cy="4076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154E903-A33D-38F2-1451-2F9D49B21BBA}"/>
              </a:ext>
            </a:extLst>
          </p:cNvPr>
          <p:cNvSpPr txBox="1"/>
          <p:nvPr/>
        </p:nvSpPr>
        <p:spPr>
          <a:xfrm>
            <a:off x="5006715" y="1041816"/>
            <a:ext cx="385247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While the world’s population tripled in the 20th century, the use of renewable water resources has grown six-fold. Within the next fifty years, the world population will increase by another 40 to 50 %. This population growth – coupled with industrialization and urbanization – will result in an increasing demand for water and will have serious consequences on the environment.</a:t>
            </a:r>
            <a:endParaRPr lang="en-IN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877FE9-2799-689E-CC3A-B31DE5791998}"/>
              </a:ext>
            </a:extLst>
          </p:cNvPr>
          <p:cNvSpPr txBox="1"/>
          <p:nvPr/>
        </p:nvSpPr>
        <p:spPr>
          <a:xfrm>
            <a:off x="5216577" y="4414603"/>
            <a:ext cx="3515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hlinkClick r:id="rId4"/>
              </a:rPr>
              <a:t>Global Water Consumption 1900-2025 | SIMCenter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7629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&amp; OBSERVATIONS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4300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Dominates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7335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Agriculture is the single largest contributor to total water consumption globally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27448" y="86868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727448" y="868680"/>
            <a:ext cx="4160520" cy="182880"/>
          </a:xfrm>
          <a:prstGeom prst="rect">
            <a:avLst/>
          </a:prstGeom>
          <a:solidFill>
            <a:srgbClr val="0D5C8F"/>
          </a:solidFill>
          <a:ln w="12700">
            <a:solidFill>
              <a:srgbClr val="0D5C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910328" y="11430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550408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Scarcity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0328" y="167335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Water scarcity is driven by multiple environmental factors acting together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97180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20040" y="2971800"/>
            <a:ext cx="4160520" cy="1828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32461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43000" y="3264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Groundwater Stress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377647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Groundwater depletion is a critical sustainability concern for future water security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27448" y="297180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727448" y="2971800"/>
            <a:ext cx="4160520" cy="1828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910328" y="32461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550408" y="3264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Variation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10328" y="377647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Significant differences in consumption and scarcity exist across regions worldwide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" cy="5669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7008" y="10881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Forecasting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70992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Predict future water consumption using regression and time-series ML models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27448" y="86868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910328" y="1051560"/>
            <a:ext cx="566928" cy="566928"/>
          </a:xfrm>
          <a:prstGeom prst="ellipse">
            <a:avLst/>
          </a:prstGeom>
          <a:solidFill>
            <a:srgbClr val="0D5C8F"/>
          </a:solidFill>
          <a:ln w="12700">
            <a:solidFill>
              <a:srgbClr val="0D5C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910328" y="1051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14416" y="10881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Identification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0328" y="170992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countries at risk of severe water scarcity using classification models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97180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02920" y="3154680"/>
            <a:ext cx="566928" cy="5669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3154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07008" y="319125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Clustering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381304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Cluster countries based on usage patterns using K-Means or DBSCAN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27448" y="297180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910328" y="3154680"/>
            <a:ext cx="566928" cy="56692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910328" y="3154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14416" y="319125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Trends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10328" y="381304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long-term sustainability trends and policy impact on water usage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4572000" cy="4572000"/>
          </a:xfrm>
          <a:prstGeom prst="ellipse">
            <a:avLst/>
          </a:prstGeom>
          <a:solidFill>
            <a:srgbClr val="0D5C8F">
              <a:alpha val="28000"/>
            </a:srgbClr>
          </a:solidFill>
          <a:ln w="12700">
            <a:solidFill>
              <a:srgbClr val="0D5C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371600" y="3200400"/>
            <a:ext cx="3474720" cy="347472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Exploratory Data Analysis revealed meaningful patterns in global water consumption. Agricultural usage and groundwater depletion emerged as the primary contributors to water stress and scarcity.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2743200"/>
            <a:ext cx="2743200" cy="1645920"/>
          </a:xfrm>
          <a:prstGeom prst="rect">
            <a:avLst/>
          </a:prstGeom>
          <a:solidFill>
            <a:srgbClr val="0D5C8F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7200" y="28529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Built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EDA establishes a strong analytical base for further modelling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46120" y="2743200"/>
            <a:ext cx="2743200" cy="1645920"/>
          </a:xfrm>
          <a:prstGeom prst="rect">
            <a:avLst/>
          </a:prstGeom>
          <a:solidFill>
            <a:srgbClr val="0D5C8F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383280" y="28529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Potential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Patterns support development of accurate forecasting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2743200" cy="1645920"/>
          </a:xfrm>
          <a:prstGeom prst="rect">
            <a:avLst/>
          </a:prstGeom>
          <a:solidFill>
            <a:srgbClr val="0D5C8F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309360" y="28529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Planning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Insights can guide evidence-based resource management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6FAEE-B2FA-3609-5291-5A061C10F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94377D-F235-8A23-BC4F-58E8EF5D6F6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r>
              <a:rPr lang="en-US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Stewardship</a:t>
            </a:r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559033-ED6D-F060-A68C-4D82EAC74336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25" name="AutoShape 2" descr="Early in the morning, children go to fetch water at the nearest water point, 15 kilometres away from their home in Tchadi village.">
            <a:extLst>
              <a:ext uri="{FF2B5EF4-FFF2-40B4-BE49-F238E27FC236}">
                <a16:creationId xmlns:a16="http://schemas.microsoft.com/office/drawing/2014/main" id="{A0E62782-B6EE-62A8-A04D-63A588F79F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" name="AutoShape 4" descr="Early in the morning, children go to fetch water at the nearest water point, 15 kilometres away from their home in Tchadi village.">
            <a:extLst>
              <a:ext uri="{FF2B5EF4-FFF2-40B4-BE49-F238E27FC236}">
                <a16:creationId xmlns:a16="http://schemas.microsoft.com/office/drawing/2014/main" id="{DA6479CF-C888-6E19-261D-B4FA031902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" name="AutoShape 6" descr="Early in the morning, children go to fetch water at the nearest water point, 15 kilometres away from their home in Tchadi village.">
            <a:extLst>
              <a:ext uri="{FF2B5EF4-FFF2-40B4-BE49-F238E27FC236}">
                <a16:creationId xmlns:a16="http://schemas.microsoft.com/office/drawing/2014/main" id="{B080C8DD-8824-68A4-41AF-70132299BF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27241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D0E276-9FB6-E442-F8F8-C84690EBF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3" y="685800"/>
            <a:ext cx="9144000" cy="40435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94C9CDA-B9E2-3500-F721-89B9E230BF5A}"/>
              </a:ext>
            </a:extLst>
          </p:cNvPr>
          <p:cNvSpPr txBox="1"/>
          <p:nvPr/>
        </p:nvSpPr>
        <p:spPr>
          <a:xfrm>
            <a:off x="82446" y="4729397"/>
            <a:ext cx="9071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Groundwater May Be Hidden, But the Secret to Its Sustainability Is Not</a:t>
            </a:r>
          </a:p>
        </p:txBody>
      </p:sp>
    </p:spTree>
    <p:extLst>
      <p:ext uri="{BB962C8B-B14F-4D97-AF65-F5344CB8AC3E}">
        <p14:creationId xmlns:p14="http://schemas.microsoft.com/office/powerpoint/2010/main" val="1672113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</TotalTime>
  <Words>763</Words>
  <Application>Microsoft Office PowerPoint</Application>
  <PresentationFormat>On-screen Show (16:9)</PresentationFormat>
  <Paragraphs>139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of Global Water Consumption</dc:title>
  <dc:subject>PptxGenJS Presentation</dc:subject>
  <dc:creator>Bhimashankar Teli &amp; Group 2</dc:creator>
  <cp:lastModifiedBy>sridhar alagandala</cp:lastModifiedBy>
  <cp:revision>6</cp:revision>
  <dcterms:created xsi:type="dcterms:W3CDTF">2026-03-06T13:20:39Z</dcterms:created>
  <dcterms:modified xsi:type="dcterms:W3CDTF">2026-03-07T09:36:43Z</dcterms:modified>
</cp:coreProperties>
</file>