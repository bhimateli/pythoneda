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856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Global Water Consumption Trend (Index)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Water Consumption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410</c:v>
                </c:pt>
                <c:pt idx="1">
                  <c:v>415</c:v>
                </c:pt>
                <c:pt idx="2">
                  <c:v>418</c:v>
                </c:pt>
                <c:pt idx="3">
                  <c:v>421</c:v>
                </c:pt>
                <c:pt idx="4">
                  <c:v>427</c:v>
                </c:pt>
                <c:pt idx="5">
                  <c:v>430</c:v>
                </c:pt>
                <c:pt idx="6">
                  <c:v>436</c:v>
                </c:pt>
                <c:pt idx="7">
                  <c:v>438</c:v>
                </c:pt>
                <c:pt idx="8">
                  <c:v>443</c:v>
                </c:pt>
                <c:pt idx="9">
                  <c:v>448</c:v>
                </c:pt>
                <c:pt idx="10">
                  <c:v>452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3E0-4F9C-8880-05D1EAC20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378B7638-B2EF-8CDD-2260-B23681697B1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017111" cy="417851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82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7761-2DA5-F95A-929A-BEC74D9E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894AD-1717-EFD7-4ED6-0B7750798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629F4-4ED5-D541-348C-94AD53943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6BA59-8799-5953-A2AF-57BCA30F7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58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10F2-1C6E-28AA-8809-8A5AF348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0C2C9-E4A5-6B2C-53B0-8787FBA45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B2FE7-86D8-DE9B-511B-6ABC10C50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B33C9-F542-458F-5497-CA182A8EA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0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nicef.org/wash/water-scarcit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5C8F">
              <a:alpha val="30000"/>
            </a:srgbClr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2560320" cy="256032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EDA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Water Consumption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Water Usage Patterns &amp; Scarcity Trends Using 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Bhimashankar Teli , Sridhar Alagandala, RAMKUMAR S , Bhargav S V, Amrithya Muralikrishnan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r>
              <a:rPr lang="en-US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5740" y="793729"/>
            <a:ext cx="4206240" cy="42748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53568" y="887730"/>
            <a:ext cx="210312" cy="42748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billion people — almost two thirds of the world’s population —  experience severe water scarcity for at least one month each year.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two billion people live in countries where water supply is inadequate.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world’s population could be living in areas facing water scarcity by as early as 2025.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700 million people could be displaced by intense water scarcity by 2030.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2040, roughly 1 in 4 children worldwide will be living in areas of extremely high water stress.</a:t>
            </a:r>
            <a:endParaRPr lang="en-US" sz="1200" dirty="0"/>
          </a:p>
        </p:txBody>
      </p:sp>
      <p:sp>
        <p:nvSpPr>
          <p:cNvPr id="25" name="AutoShape 2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60845419-C7DB-8B6C-7EA8-9B3CDD2BF8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AutoShape 4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281A3834-5C42-27A0-C0C0-BBD515C0CA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6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FE8059A3-5E75-19CE-54A3-4CD60B8896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949F607-CE0F-95E2-5538-69A22E45F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0" y="868680"/>
            <a:ext cx="4587240" cy="39776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D262C4B-4402-1B79-CF67-D1BB1EEEF130}"/>
              </a:ext>
            </a:extLst>
          </p:cNvPr>
          <p:cNvSpPr txBox="1"/>
          <p:nvPr/>
        </p:nvSpPr>
        <p:spPr>
          <a:xfrm>
            <a:off x="846944" y="4572000"/>
            <a:ext cx="3230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Water scarcity | UNICEF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829A3-951A-169E-DF5C-43729CDA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4D7FBA-ECF6-E117-0B6B-B15002277BC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A56517-917E-682D-5749-3370191773A9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DATASET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AF0FF5-E0A2-D318-1326-C3F99C470B3C}"/>
              </a:ext>
            </a:extLst>
          </p:cNvPr>
          <p:cNvSpPr/>
          <p:nvPr/>
        </p:nvSpPr>
        <p:spPr>
          <a:xfrm>
            <a:off x="32004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891E9C-281D-F4CB-9C5B-BB34D3BB9282}"/>
              </a:ext>
            </a:extLst>
          </p:cNvPr>
          <p:cNvSpPr/>
          <p:nvPr/>
        </p:nvSpPr>
        <p:spPr>
          <a:xfrm>
            <a:off x="320040" y="868680"/>
            <a:ext cx="164592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8AE8D0-1FAC-460F-751B-D7F7FEC6581A}"/>
              </a:ext>
            </a:extLst>
          </p:cNvPr>
          <p:cNvSpPr/>
          <p:nvPr/>
        </p:nvSpPr>
        <p:spPr>
          <a:xfrm>
            <a:off x="594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65378B-2055-C108-7A9E-4CC8518759B0}"/>
              </a:ext>
            </a:extLst>
          </p:cNvPr>
          <p:cNvSpPr/>
          <p:nvPr/>
        </p:nvSpPr>
        <p:spPr>
          <a:xfrm>
            <a:off x="640080" y="1382335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on a global water consumption dataset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water usage patterns across countries and years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between environmental factors and water scarcity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 supporting sustainable water management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57F8D7C-8E01-1D63-19E2-441CA2227D98}"/>
              </a:ext>
            </a:extLst>
          </p:cNvPr>
          <p:cNvSpPr/>
          <p:nvPr/>
        </p:nvSpPr>
        <p:spPr>
          <a:xfrm>
            <a:off x="470916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3FA904-2D25-D5E1-452B-AC36B57DF2B4}"/>
              </a:ext>
            </a:extLst>
          </p:cNvPr>
          <p:cNvSpPr/>
          <p:nvPr/>
        </p:nvSpPr>
        <p:spPr>
          <a:xfrm>
            <a:off x="4709160" y="868680"/>
            <a:ext cx="164592" cy="3977640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60B2EE-3102-2988-3784-D0DC2834C808}"/>
              </a:ext>
            </a:extLst>
          </p:cNvPr>
          <p:cNvSpPr/>
          <p:nvPr/>
        </p:nvSpPr>
        <p:spPr>
          <a:xfrm>
            <a:off x="498348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3E6B549-D197-ABE9-33D0-68C3F82CDED3}"/>
              </a:ext>
            </a:extLst>
          </p:cNvPr>
          <p:cNvSpPr/>
          <p:nvPr/>
        </p:nvSpPr>
        <p:spPr>
          <a:xfrm>
            <a:off x="4983480" y="150876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16013D-7017-1BAE-B802-4B50B904D2ED}"/>
              </a:ext>
            </a:extLst>
          </p:cNvPr>
          <p:cNvSpPr/>
          <p:nvPr/>
        </p:nvSpPr>
        <p:spPr>
          <a:xfrm>
            <a:off x="4983480" y="1673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EBE6FB-2D16-F546-3761-6DDE1934D6D2}"/>
              </a:ext>
            </a:extLst>
          </p:cNvPr>
          <p:cNvSpPr/>
          <p:nvPr/>
        </p:nvSpPr>
        <p:spPr>
          <a:xfrm>
            <a:off x="498348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1AF2040-4218-3BD2-1C55-FD3CB64CD58E}"/>
              </a:ext>
            </a:extLst>
          </p:cNvPr>
          <p:cNvSpPr/>
          <p:nvPr/>
        </p:nvSpPr>
        <p:spPr>
          <a:xfrm>
            <a:off x="6858000" y="150876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75530E-36ED-1DF7-17B3-797B8FDBA04C}"/>
              </a:ext>
            </a:extLst>
          </p:cNvPr>
          <p:cNvSpPr/>
          <p:nvPr/>
        </p:nvSpPr>
        <p:spPr>
          <a:xfrm>
            <a:off x="6858000" y="1673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55292CC-4DF0-7BD4-748B-F5877B01311D}"/>
              </a:ext>
            </a:extLst>
          </p:cNvPr>
          <p:cNvSpPr/>
          <p:nvPr/>
        </p:nvSpPr>
        <p:spPr>
          <a:xfrm>
            <a:off x="685800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187B36D-3F33-086D-1DCF-41F7E556984C}"/>
              </a:ext>
            </a:extLst>
          </p:cNvPr>
          <p:cNvSpPr/>
          <p:nvPr/>
        </p:nvSpPr>
        <p:spPr>
          <a:xfrm>
            <a:off x="4983480" y="292608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D43EFD4-B415-54EA-9767-F931B71AF333}"/>
              </a:ext>
            </a:extLst>
          </p:cNvPr>
          <p:cNvSpPr/>
          <p:nvPr/>
        </p:nvSpPr>
        <p:spPr>
          <a:xfrm>
            <a:off x="498348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FB2EF6D-3408-AD76-4B74-F48EF9CFA8C8}"/>
              </a:ext>
            </a:extLst>
          </p:cNvPr>
          <p:cNvSpPr/>
          <p:nvPr/>
        </p:nvSpPr>
        <p:spPr>
          <a:xfrm>
            <a:off x="498348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78BB05-29D6-ECCB-A4D8-7B0454A9100E}"/>
              </a:ext>
            </a:extLst>
          </p:cNvPr>
          <p:cNvSpPr/>
          <p:nvPr/>
        </p:nvSpPr>
        <p:spPr>
          <a:xfrm>
            <a:off x="6858000" y="292608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6CC5A6-D44C-9C89-72BE-F342AB464A76}"/>
              </a:ext>
            </a:extLst>
          </p:cNvPr>
          <p:cNvSpPr/>
          <p:nvPr/>
        </p:nvSpPr>
        <p:spPr>
          <a:xfrm>
            <a:off x="685800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7B4CA7-C252-935F-EFB6-D1EEBF099C0B}"/>
              </a:ext>
            </a:extLst>
          </p:cNvPr>
          <p:cNvSpPr/>
          <p:nvPr/>
        </p:nvSpPr>
        <p:spPr>
          <a:xfrm>
            <a:off x="685800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E1CF3F4-CAFA-F24B-A7CF-B2FDC42622DD}"/>
              </a:ext>
            </a:extLst>
          </p:cNvPr>
          <p:cNvSpPr/>
          <p:nvPr/>
        </p:nvSpPr>
        <p:spPr>
          <a:xfrm>
            <a:off x="498348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environmental and consumption features captured across countries and years.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5931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 ·  COLUMN DESCRIPTIONS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28016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85039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 of the country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474720" y="850392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8503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128016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85039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21808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of data collection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863840" y="850392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8503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1627632"/>
            <a:ext cx="12801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17007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Water Consumption (Bn m³)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688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volume of water consumed in the country in a given year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474720" y="1700784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70078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7007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Water Use (L/Day)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21808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Average water usage per person per day in liters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863840" y="1700784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70078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47802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478024"/>
            <a:ext cx="12801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255117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Scarcity Level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32688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 of scarcity — Low, Moderate, or High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74720" y="2551176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5511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247802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478024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255117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Water Use (%)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21808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total water consumption used for agriculture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7863840" y="2551176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5511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33284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328416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" y="34015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Water Use (%)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32688" y="3712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total water consumption used for industry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474720" y="3401568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340156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63440" y="33284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328416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34015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Water Use (%)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21808" y="3712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total water consumption used for households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7863840" y="3401568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0" y="340156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417880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4178808"/>
            <a:ext cx="128016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32688" y="425196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Impact (mm/year)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32688" y="4562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precipitation and its impact on water availability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3474720" y="4251960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4251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663440" y="417880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63440" y="4178808"/>
            <a:ext cx="128016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321808" y="425196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Depletion Rate (%)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321808" y="4562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rate at which groundwater is being depleted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7863840" y="4251960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4251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71600" y="4892040"/>
            <a:ext cx="164592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5910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00400" y="4892040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198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29200" y="4892040"/>
            <a:ext cx="164592" cy="109728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486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Feature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858000" y="4892040"/>
            <a:ext cx="164592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774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47472" y="4855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4632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 library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29000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41648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structure with df.info() and df.describe()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73368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73368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8601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3368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absence of missing values and checked duplicates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" y="30906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675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and standardised numerical data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29260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29000" y="30906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2900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41648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75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clean dataset for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97480" cy="1783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179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– Variable Distribution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88720"/>
            <a:ext cx="406908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– Outlier Detection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188720"/>
            <a:ext cx="4069080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0040" y="384048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943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Histograms revealed moderate variation across countries · Box plots flagged extreme outliers in certain regions · Some countries exhibit unusually high water consumption levels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88720"/>
            <a:ext cx="406908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Analysis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188720"/>
            <a:ext cx="4069080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0040" y="384048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9436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Findings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Strong positive correlation between Total Water Consumption &amp; Agricultural Water Use · Higher groundwater depletion linked with water scarcity · Lower rainfall regions depend more on groundwater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303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53780597"/>
              </p:ext>
            </p:extLst>
          </p:nvPr>
        </p:nvGraphicFramePr>
        <p:xfrm>
          <a:off x="365760" y="91440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8686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806440" y="8686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080760" y="978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Increase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325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consumption shows steady yearly growth in several countries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2402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06440" y="22402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80760" y="23500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Rising population drives increased demand for water resources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6118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806440" y="36118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80760" y="3721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Expansion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Industrial activity significantly contributes to rising consumption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4480560"/>
            <a:ext cx="30175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OBSERVATIONS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Dominates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Agriculture is the single largest contributor to total water consumption globally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27448" y="868680"/>
            <a:ext cx="4160520" cy="182880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0328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50408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Scarcity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6733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scarcity is driven by multiple environmental factors acting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605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Stress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Groundwater depletion is a critical sustainability concern for future water security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27448" y="2971800"/>
            <a:ext cx="4160520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50408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7764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Significant differences in consumption and scarcity exist across regions worldwide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881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future water consumption using regression and time-series ML models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10328" y="1051560"/>
            <a:ext cx="566928" cy="566928"/>
          </a:xfrm>
          <a:prstGeom prst="ellipse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0328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14416" y="10881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709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countries at risk of severe water scarcity using classification models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1912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Clustering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8130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 countries based on usage patterns using K-Means or DBSCAN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10328" y="3154680"/>
            <a:ext cx="566928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14416" y="31912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Trends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8130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long-term sustainability trends and policy impact on water usage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5C8F">
              <a:alpha val="28000"/>
            </a:srgbClr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474720" cy="34747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Data Analysis revealed meaningful patterns in global water consumption. Agricultural usage and groundwater depletion emerged as the primary contributors to water stress and scarcity.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Built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establishes a strong analytical base for further modelling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Potential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Patterns support development of accurate forecasting models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0936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Planning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Insights can guide evidence-based resource management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FAEE-B2FA-3609-5291-5A061C10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94377D-F235-8A23-BC4F-58E8EF5D6F6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r>
              <a:rPr lang="en-US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Stewardship</a:t>
            </a:r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559033-ED6D-F060-A68C-4D82EAC74336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5" name="AutoShape 2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A0E62782-B6EE-62A8-A04D-63A588F79F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AutoShape 4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DA6479CF-C888-6E19-261D-B4FA031902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6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B080C8DD-8824-68A4-41AF-70132299BF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D0E276-9FB6-E442-F8F8-C84690EBF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3" y="685800"/>
            <a:ext cx="9144000" cy="40435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4C9CDA-B9E2-3500-F721-89B9E230BF5A}"/>
              </a:ext>
            </a:extLst>
          </p:cNvPr>
          <p:cNvSpPr txBox="1"/>
          <p:nvPr/>
        </p:nvSpPr>
        <p:spPr>
          <a:xfrm>
            <a:off x="82446" y="4729397"/>
            <a:ext cx="907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Groundwater May Be Hidden, But the Secret to Its Sustainability Is Not</a:t>
            </a:r>
          </a:p>
        </p:txBody>
      </p:sp>
    </p:spTree>
    <p:extLst>
      <p:ext uri="{BB962C8B-B14F-4D97-AF65-F5344CB8AC3E}">
        <p14:creationId xmlns:p14="http://schemas.microsoft.com/office/powerpoint/2010/main" val="167211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3852</TotalTime>
  <Words>709</Words>
  <Application>Microsoft Office PowerPoint</Application>
  <PresentationFormat>On-screen Show (16:9)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of Global Water Consumption</dc:title>
  <dc:subject>PptxGenJS Presentation</dc:subject>
  <dc:creator>Bhimashankar Teli &amp; Group 2</dc:creator>
  <cp:lastModifiedBy>Bhimashankar Teli Teli</cp:lastModifiedBy>
  <cp:revision>9</cp:revision>
  <dcterms:created xsi:type="dcterms:W3CDTF">2026-03-06T13:20:39Z</dcterms:created>
  <dcterms:modified xsi:type="dcterms:W3CDTF">2026-03-11T17:10:54Z</dcterms:modified>
</cp:coreProperties>
</file>